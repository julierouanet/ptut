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57" r:id="rId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6865"/>
    <a:srgbClr val="7D50DE"/>
    <a:srgbClr val="FB8D5B"/>
    <a:srgbClr val="D1B7EA"/>
    <a:srgbClr val="C35BA6"/>
    <a:srgbClr val="E47D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75" autoAdjust="0"/>
    <p:restoredTop sz="94622" autoAdjust="0"/>
  </p:normalViewPr>
  <p:slideViewPr>
    <p:cSldViewPr>
      <p:cViewPr varScale="1">
        <p:scale>
          <a:sx n="51" d="100"/>
          <a:sy n="51" d="100"/>
        </p:scale>
        <p:origin x="845" y="-5021"/>
      </p:cViewPr>
      <p:guideLst>
        <p:guide orient="horz" pos="2160"/>
        <p:guide pos="2880"/>
      </p:guideLst>
    </p:cSldViewPr>
  </p:slideViewPr>
  <p:outlineViewPr>
    <p:cViewPr>
      <p:scale>
        <a:sx n="33" d="100"/>
        <a:sy n="33" d="100"/>
      </p:scale>
      <p:origin x="0" y="0"/>
    </p:cViewPr>
  </p:outlineViewPr>
  <p:notesTextViewPr>
    <p:cViewPr>
      <p:scale>
        <a:sx n="33" d="100"/>
        <a:sy n="33"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9DB9EA1-45C6-6E03-DE5E-1F173022267D}"/>
              </a:ext>
            </a:extLst>
          </p:cNvPr>
          <p:cNvSpPr/>
          <p:nvPr/>
        </p:nvSpPr>
        <p:spPr>
          <a:xfrm>
            <a:off x="-76200" y="-5676900"/>
            <a:ext cx="30276000" cy="4280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2" name="Rectangle 1">
            <a:extLst>
              <a:ext uri="{FF2B5EF4-FFF2-40B4-BE49-F238E27FC236}">
                <a16:creationId xmlns:a16="http://schemas.microsoft.com/office/drawing/2014/main" id="{ED5ECFC8-8362-165A-3380-6C60E1719C2D}"/>
              </a:ext>
            </a:extLst>
          </p:cNvPr>
          <p:cNvSpPr/>
          <p:nvPr/>
        </p:nvSpPr>
        <p:spPr>
          <a:xfrm>
            <a:off x="-53922" y="-5676900"/>
            <a:ext cx="30276000" cy="42804000"/>
          </a:xfrm>
          <a:prstGeom prst="rect">
            <a:avLst/>
          </a:prstGeom>
          <a:gradFill flip="none" rotWithShape="1">
            <a:gsLst>
              <a:gs pos="0">
                <a:srgbClr val="7D50DE"/>
              </a:gs>
              <a:gs pos="64000">
                <a:srgbClr val="C35BA6"/>
              </a:gs>
              <a:gs pos="100000">
                <a:srgbClr val="F16865"/>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grpSp>
        <p:nvGrpSpPr>
          <p:cNvPr id="61" name="Groupe 60">
            <a:extLst>
              <a:ext uri="{FF2B5EF4-FFF2-40B4-BE49-F238E27FC236}">
                <a16:creationId xmlns:a16="http://schemas.microsoft.com/office/drawing/2014/main" id="{28ECA0EC-1662-787B-BA9D-76CAAA1F3280}"/>
              </a:ext>
            </a:extLst>
          </p:cNvPr>
          <p:cNvGrpSpPr/>
          <p:nvPr/>
        </p:nvGrpSpPr>
        <p:grpSpPr>
          <a:xfrm>
            <a:off x="114543" y="-5334000"/>
            <a:ext cx="8669549" cy="3974001"/>
            <a:chOff x="228600" y="-5372100"/>
            <a:chExt cx="10524149" cy="8458200"/>
          </a:xfrm>
        </p:grpSpPr>
        <p:sp>
          <p:nvSpPr>
            <p:cNvPr id="13" name="Rectangle 12">
              <a:extLst>
                <a:ext uri="{FF2B5EF4-FFF2-40B4-BE49-F238E27FC236}">
                  <a16:creationId xmlns:a16="http://schemas.microsoft.com/office/drawing/2014/main" id="{0B1E9638-021E-7B16-7B6E-D1047E0D5229}"/>
                </a:ext>
              </a:extLst>
            </p:cNvPr>
            <p:cNvSpPr/>
            <p:nvPr/>
          </p:nvSpPr>
          <p:spPr>
            <a:xfrm>
              <a:off x="228600" y="-5372100"/>
              <a:ext cx="9296400" cy="8458200"/>
            </a:xfrm>
            <a:custGeom>
              <a:avLst/>
              <a:gdLst>
                <a:gd name="csX0" fmla="*/ 0 w 9601200"/>
                <a:gd name="csY0" fmla="*/ 0 h 8458200"/>
                <a:gd name="csX1" fmla="*/ 9601200 w 9601200"/>
                <a:gd name="csY1" fmla="*/ 0 h 8458200"/>
                <a:gd name="csX2" fmla="*/ 9601200 w 9601200"/>
                <a:gd name="csY2" fmla="*/ 8458200 h 8458200"/>
                <a:gd name="csX3" fmla="*/ 0 w 9601200"/>
                <a:gd name="csY3" fmla="*/ 8458200 h 8458200"/>
                <a:gd name="csX4" fmla="*/ 0 w 9601200"/>
                <a:gd name="csY4" fmla="*/ 0 h 8458200"/>
                <a:gd name="csX0" fmla="*/ 0 w 9601200"/>
                <a:gd name="csY0" fmla="*/ 0 h 8458200"/>
                <a:gd name="csX1" fmla="*/ 9601200 w 9601200"/>
                <a:gd name="csY1" fmla="*/ 0 h 8458200"/>
                <a:gd name="csX2" fmla="*/ 8412480 w 9601200"/>
                <a:gd name="csY2" fmla="*/ 8458200 h 8458200"/>
                <a:gd name="csX3" fmla="*/ 0 w 9601200"/>
                <a:gd name="csY3" fmla="*/ 8458200 h 8458200"/>
                <a:gd name="csX4" fmla="*/ 0 w 9601200"/>
                <a:gd name="csY4" fmla="*/ 0 h 8458200"/>
              </a:gdLst>
              <a:ahLst/>
              <a:cxnLst>
                <a:cxn ang="0">
                  <a:pos x="csX0" y="csY0"/>
                </a:cxn>
                <a:cxn ang="0">
                  <a:pos x="csX1" y="csY1"/>
                </a:cxn>
                <a:cxn ang="0">
                  <a:pos x="csX2" y="csY2"/>
                </a:cxn>
                <a:cxn ang="0">
                  <a:pos x="csX3" y="csY3"/>
                </a:cxn>
                <a:cxn ang="0">
                  <a:pos x="csX4" y="csY4"/>
                </a:cxn>
              </a:cxnLst>
              <a:rect l="l" t="t" r="r" b="b"/>
              <a:pathLst>
                <a:path w="9601200" h="8458200">
                  <a:moveTo>
                    <a:pt x="0" y="0"/>
                  </a:moveTo>
                  <a:lnTo>
                    <a:pt x="9601200" y="0"/>
                  </a:lnTo>
                  <a:lnTo>
                    <a:pt x="8412480" y="8458200"/>
                  </a:lnTo>
                  <a:lnTo>
                    <a:pt x="0" y="8458200"/>
                  </a:lnTo>
                  <a:lnTo>
                    <a:pt x="0" y="0"/>
                  </a:lnTo>
                  <a:close/>
                </a:path>
              </a:pathLst>
            </a:custGeom>
            <a:solidFill>
              <a:schemeClr val="bg1">
                <a:alpha val="58000"/>
              </a:schemeClr>
            </a:solidFill>
            <a:ln w="57150">
              <a:solidFill>
                <a:srgbClr val="C35B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solidFill>
                  <a:schemeClr val="lt1">
                    <a:alpha val="39000"/>
                  </a:schemeClr>
                </a:solidFill>
              </a:endParaRPr>
            </a:p>
          </p:txBody>
        </p:sp>
        <p:cxnSp>
          <p:nvCxnSpPr>
            <p:cNvPr id="27" name="Connecteur droit 26">
              <a:extLst>
                <a:ext uri="{FF2B5EF4-FFF2-40B4-BE49-F238E27FC236}">
                  <a16:creationId xmlns:a16="http://schemas.microsoft.com/office/drawing/2014/main" id="{274BE18F-8BB9-6F3F-6CDB-60BE8E5CCD0F}"/>
                </a:ext>
              </a:extLst>
            </p:cNvPr>
            <p:cNvCxnSpPr>
              <a:cxnSpLocks/>
            </p:cNvCxnSpPr>
            <p:nvPr/>
          </p:nvCxnSpPr>
          <p:spPr>
            <a:xfrm flipH="1">
              <a:off x="8763000" y="-5372100"/>
              <a:ext cx="1104900" cy="8458200"/>
            </a:xfrm>
            <a:prstGeom prst="line">
              <a:avLst/>
            </a:prstGeom>
            <a:ln w="76200">
              <a:solidFill>
                <a:srgbClr val="F16865"/>
              </a:solidFill>
            </a:ln>
          </p:spPr>
          <p:style>
            <a:lnRef idx="1">
              <a:schemeClr val="accent1"/>
            </a:lnRef>
            <a:fillRef idx="0">
              <a:schemeClr val="accent1"/>
            </a:fillRef>
            <a:effectRef idx="0">
              <a:schemeClr val="accent1"/>
            </a:effectRef>
            <a:fontRef idx="minor">
              <a:schemeClr val="tx1"/>
            </a:fontRef>
          </p:style>
        </p:cxnSp>
        <p:cxnSp>
          <p:nvCxnSpPr>
            <p:cNvPr id="32" name="Connecteur droit 31">
              <a:extLst>
                <a:ext uri="{FF2B5EF4-FFF2-40B4-BE49-F238E27FC236}">
                  <a16:creationId xmlns:a16="http://schemas.microsoft.com/office/drawing/2014/main" id="{AF4DCC2E-1622-4976-8786-1AF6CD6CD877}"/>
                </a:ext>
              </a:extLst>
            </p:cNvPr>
            <p:cNvCxnSpPr>
              <a:cxnSpLocks/>
            </p:cNvCxnSpPr>
            <p:nvPr/>
          </p:nvCxnSpPr>
          <p:spPr>
            <a:xfrm flipH="1">
              <a:off x="9296400" y="-5372100"/>
              <a:ext cx="1039900" cy="7933033"/>
            </a:xfrm>
            <a:prstGeom prst="line">
              <a:avLst/>
            </a:prstGeom>
            <a:ln w="76200">
              <a:solidFill>
                <a:srgbClr val="E47D72"/>
              </a:solidFill>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AFF17B91-FF26-7678-8C61-BC2EFE33B3E0}"/>
                </a:ext>
              </a:extLst>
            </p:cNvPr>
            <p:cNvCxnSpPr>
              <a:cxnSpLocks/>
            </p:cNvCxnSpPr>
            <p:nvPr/>
          </p:nvCxnSpPr>
          <p:spPr>
            <a:xfrm flipH="1">
              <a:off x="9829800" y="-5372100"/>
              <a:ext cx="922949" cy="7209758"/>
            </a:xfrm>
            <a:prstGeom prst="line">
              <a:avLst/>
            </a:prstGeom>
            <a:ln w="76200">
              <a:solidFill>
                <a:srgbClr val="FB8D5B"/>
              </a:solidFill>
            </a:ln>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6C6A0503-6799-AF90-A9D9-6AB83AA236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92250" y="-5296959"/>
            <a:ext cx="3335504" cy="3645483"/>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4DB61FE1-9F0E-34AA-DF4C-F6DCFB10B2B3}"/>
              </a:ext>
            </a:extLst>
          </p:cNvPr>
          <p:cNvSpPr txBox="1"/>
          <p:nvPr/>
        </p:nvSpPr>
        <p:spPr>
          <a:xfrm>
            <a:off x="9393692" y="-1841565"/>
            <a:ext cx="16779240" cy="1015663"/>
          </a:xfrm>
          <a:prstGeom prst="rect">
            <a:avLst/>
          </a:prstGeom>
          <a:noFill/>
        </p:spPr>
        <p:txBody>
          <a:bodyPr wrap="square">
            <a:spAutoFit/>
          </a:bodyPr>
          <a:lstStyle/>
          <a:p>
            <a:pPr algn="just"/>
            <a:r>
              <a:rPr lang="fr-FR" sz="6000" dirty="0">
                <a:solidFill>
                  <a:schemeClr val="bg1"/>
                </a:solidFill>
              </a:rPr>
              <a:t>PTUT FIE4 — Promotion 2025-2026</a:t>
            </a:r>
          </a:p>
        </p:txBody>
      </p:sp>
      <p:pic>
        <p:nvPicPr>
          <p:cNvPr id="1028" name="Picture 4" descr="École d'ingénieurs ISIS — Wikipédia">
            <a:extLst>
              <a:ext uri="{FF2B5EF4-FFF2-40B4-BE49-F238E27FC236}">
                <a16:creationId xmlns:a16="http://schemas.microsoft.com/office/drawing/2014/main" id="{4B955591-0F0E-356E-5E35-27C21F96B7A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61517" y="-5459262"/>
            <a:ext cx="7658158" cy="4214013"/>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e 3">
            <a:extLst>
              <a:ext uri="{FF2B5EF4-FFF2-40B4-BE49-F238E27FC236}">
                <a16:creationId xmlns:a16="http://schemas.microsoft.com/office/drawing/2014/main" id="{57029D0F-CEAE-9352-E3BA-76D6B8F0B870}"/>
              </a:ext>
            </a:extLst>
          </p:cNvPr>
          <p:cNvGrpSpPr/>
          <p:nvPr/>
        </p:nvGrpSpPr>
        <p:grpSpPr>
          <a:xfrm>
            <a:off x="1066800" y="-5559232"/>
            <a:ext cx="27928618" cy="5061329"/>
            <a:chOff x="3172192" y="-5227933"/>
            <a:chExt cx="27928618" cy="5061329"/>
          </a:xfrm>
        </p:grpSpPr>
        <p:sp>
          <p:nvSpPr>
            <p:cNvPr id="14" name="TextBox 13">
              <a:extLst>
                <a:ext uri="{FF2B5EF4-FFF2-40B4-BE49-F238E27FC236}">
                  <a16:creationId xmlns:a16="http://schemas.microsoft.com/office/drawing/2014/main" id="{0666938F-9421-AEFE-75E6-A2268B02CF6F}"/>
                </a:ext>
              </a:extLst>
            </p:cNvPr>
            <p:cNvSpPr txBox="1"/>
            <p:nvPr/>
          </p:nvSpPr>
          <p:spPr>
            <a:xfrm>
              <a:off x="11582400" y="-5227933"/>
              <a:ext cx="18122100" cy="2800767"/>
            </a:xfrm>
            <a:prstGeom prst="rect">
              <a:avLst/>
            </a:prstGeom>
            <a:noFill/>
          </p:spPr>
          <p:txBody>
            <a:bodyPr wrap="square" rtlCol="0">
              <a:spAutoFit/>
            </a:bodyPr>
            <a:lstStyle/>
            <a:p>
              <a:pPr algn="just"/>
              <a:r>
                <a:rPr lang="fr-FR" sz="8800" b="1" dirty="0">
                  <a:solidFill>
                    <a:schemeClr val="bg1"/>
                  </a:solidFill>
                </a:rPr>
                <a:t>DIGITALISATION DE LA GESTION </a:t>
              </a:r>
            </a:p>
            <a:p>
              <a:pPr algn="just"/>
              <a:r>
                <a:rPr lang="fr-FR" sz="8800" b="1" dirty="0">
                  <a:solidFill>
                    <a:schemeClr val="bg1"/>
                  </a:solidFill>
                </a:rPr>
                <a:t>DES EQUIPEMENTS HOSPITALIERS</a:t>
              </a:r>
            </a:p>
          </p:txBody>
        </p:sp>
        <p:sp>
          <p:nvSpPr>
            <p:cNvPr id="15" name="TextBox 14">
              <a:extLst>
                <a:ext uri="{FF2B5EF4-FFF2-40B4-BE49-F238E27FC236}">
                  <a16:creationId xmlns:a16="http://schemas.microsoft.com/office/drawing/2014/main" id="{B3FDA90C-DC5E-02EE-1E9D-3110EABED199}"/>
                </a:ext>
              </a:extLst>
            </p:cNvPr>
            <p:cNvSpPr txBox="1"/>
            <p:nvPr/>
          </p:nvSpPr>
          <p:spPr>
            <a:xfrm>
              <a:off x="11582400" y="-2433596"/>
              <a:ext cx="19431000" cy="923330"/>
            </a:xfrm>
            <a:prstGeom prst="rect">
              <a:avLst/>
            </a:prstGeom>
            <a:noFill/>
          </p:spPr>
          <p:txBody>
            <a:bodyPr wrap="square" rtlCol="0">
              <a:spAutoFit/>
            </a:bodyPr>
            <a:lstStyle/>
            <a:p>
              <a:pPr algn="just"/>
              <a:r>
                <a:rPr lang="fr-FR" sz="5400" b="1" dirty="0">
                  <a:solidFill>
                    <a:srgbClr val="FB8D5B"/>
                  </a:solidFill>
                </a:rPr>
                <a:t>Étude de cas au Rwanda : Hôpital de District de </a:t>
              </a:r>
              <a:r>
                <a:rPr lang="fr-FR" sz="5400" b="1" dirty="0" err="1">
                  <a:solidFill>
                    <a:srgbClr val="FB8D5B"/>
                  </a:solidFill>
                </a:rPr>
                <a:t>Kabutare</a:t>
              </a:r>
              <a:r>
                <a:rPr lang="fr-FR" sz="5400" b="1" dirty="0">
                  <a:solidFill>
                    <a:srgbClr val="FB8D5B"/>
                  </a:solidFill>
                </a:rPr>
                <a:t> </a:t>
              </a:r>
            </a:p>
          </p:txBody>
        </p:sp>
        <p:sp>
          <p:nvSpPr>
            <p:cNvPr id="39" name="Rectangle 38">
              <a:extLst>
                <a:ext uri="{FF2B5EF4-FFF2-40B4-BE49-F238E27FC236}">
                  <a16:creationId xmlns:a16="http://schemas.microsoft.com/office/drawing/2014/main" id="{41ADBF4B-74D6-617F-830E-8CDFD236E68C}"/>
                </a:ext>
              </a:extLst>
            </p:cNvPr>
            <p:cNvSpPr/>
            <p:nvPr/>
          </p:nvSpPr>
          <p:spPr>
            <a:xfrm flipV="1">
              <a:off x="4416592" y="-354623"/>
              <a:ext cx="26684218" cy="45719"/>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41" name="Ellipse 40">
              <a:extLst>
                <a:ext uri="{FF2B5EF4-FFF2-40B4-BE49-F238E27FC236}">
                  <a16:creationId xmlns:a16="http://schemas.microsoft.com/office/drawing/2014/main" id="{800D462E-9767-A523-A92E-CE7679748CA9}"/>
                </a:ext>
              </a:extLst>
            </p:cNvPr>
            <p:cNvSpPr/>
            <p:nvPr/>
          </p:nvSpPr>
          <p:spPr>
            <a:xfrm>
              <a:off x="3172192" y="-468801"/>
              <a:ext cx="274469" cy="302197"/>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44" name="Ellipse 43">
              <a:extLst>
                <a:ext uri="{FF2B5EF4-FFF2-40B4-BE49-F238E27FC236}">
                  <a16:creationId xmlns:a16="http://schemas.microsoft.com/office/drawing/2014/main" id="{2A6B6BA1-AE21-3F85-C44C-F1A28FAF6AE5}"/>
                </a:ext>
              </a:extLst>
            </p:cNvPr>
            <p:cNvSpPr/>
            <p:nvPr/>
          </p:nvSpPr>
          <p:spPr>
            <a:xfrm>
              <a:off x="3751884" y="-468801"/>
              <a:ext cx="274469" cy="302197"/>
            </a:xfrm>
            <a:prstGeom prst="ellipse">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grpSp>
      <p:sp>
        <p:nvSpPr>
          <p:cNvPr id="45" name="Rectangle 44">
            <a:extLst>
              <a:ext uri="{FF2B5EF4-FFF2-40B4-BE49-F238E27FC236}">
                <a16:creationId xmlns:a16="http://schemas.microsoft.com/office/drawing/2014/main" id="{4285985E-C946-2C64-D1F6-A7F5BAE090FD}"/>
              </a:ext>
            </a:extLst>
          </p:cNvPr>
          <p:cNvSpPr/>
          <p:nvPr/>
        </p:nvSpPr>
        <p:spPr>
          <a:xfrm>
            <a:off x="645360" y="419099"/>
            <a:ext cx="16992600" cy="7816593"/>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dirty="0"/>
          </a:p>
        </p:txBody>
      </p:sp>
      <p:sp>
        <p:nvSpPr>
          <p:cNvPr id="49" name="Rectangle 48">
            <a:extLst>
              <a:ext uri="{FF2B5EF4-FFF2-40B4-BE49-F238E27FC236}">
                <a16:creationId xmlns:a16="http://schemas.microsoft.com/office/drawing/2014/main" id="{0F8968D0-7A4C-A819-7FEB-B9C582528831}"/>
              </a:ext>
            </a:extLst>
          </p:cNvPr>
          <p:cNvSpPr/>
          <p:nvPr/>
        </p:nvSpPr>
        <p:spPr>
          <a:xfrm>
            <a:off x="152400" y="-38100"/>
            <a:ext cx="13944600" cy="1062919"/>
          </a:xfrm>
          <a:prstGeom prst="rect">
            <a:avLst/>
          </a:prstGeom>
          <a:solidFill>
            <a:srgbClr val="FB8D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just"/>
            <a:r>
              <a:rPr lang="fr-FR" sz="4800" b="1" dirty="0"/>
              <a:t>CONTEXTE ET ENJEUX</a:t>
            </a:r>
          </a:p>
        </p:txBody>
      </p:sp>
      <p:sp>
        <p:nvSpPr>
          <p:cNvPr id="51" name="ZoneTexte 50">
            <a:extLst>
              <a:ext uri="{FF2B5EF4-FFF2-40B4-BE49-F238E27FC236}">
                <a16:creationId xmlns:a16="http://schemas.microsoft.com/office/drawing/2014/main" id="{16CFDB0F-57DE-D862-3EAC-F0540E70458D}"/>
              </a:ext>
            </a:extLst>
          </p:cNvPr>
          <p:cNvSpPr txBox="1"/>
          <p:nvPr/>
        </p:nvSpPr>
        <p:spPr>
          <a:xfrm>
            <a:off x="835860" y="1181100"/>
            <a:ext cx="16611600" cy="6337761"/>
          </a:xfrm>
          <a:prstGeom prst="rect">
            <a:avLst/>
          </a:prstGeom>
          <a:noFill/>
        </p:spPr>
        <p:txBody>
          <a:bodyPr wrap="square">
            <a:spAutoFit/>
          </a:bodyPr>
          <a:lstStyle/>
          <a:p>
            <a:pPr algn="just">
              <a:lnSpc>
                <a:spcPct val="115000"/>
              </a:lnSpc>
              <a:spcBef>
                <a:spcPts val="1200"/>
              </a:spcBef>
              <a:spcAft>
                <a:spcPts val="1200"/>
              </a:spcAft>
              <a:buNone/>
            </a:pPr>
            <a:r>
              <a:rPr lang="fr-FR" sz="3200" dirty="0">
                <a:effectLst/>
                <a:latin typeface="+mj-lt"/>
                <a:ea typeface="Arial" panose="020B0604020202020204" pitchFamily="34" charset="0"/>
              </a:rPr>
              <a:t>Le projet est initié par le </a:t>
            </a:r>
            <a:r>
              <a:rPr lang="fr-FR" sz="3200" b="1" dirty="0" err="1">
                <a:effectLst/>
                <a:latin typeface="+mj-lt"/>
                <a:ea typeface="Arial" panose="020B0604020202020204" pitchFamily="34" charset="0"/>
              </a:rPr>
              <a:t>Kabutare</a:t>
            </a:r>
            <a:r>
              <a:rPr lang="fr-FR" sz="3200" b="1" dirty="0">
                <a:effectLst/>
                <a:latin typeface="+mj-lt"/>
                <a:ea typeface="Arial" panose="020B0604020202020204" pitchFamily="34" charset="0"/>
              </a:rPr>
              <a:t> District Hospital</a:t>
            </a:r>
            <a:r>
              <a:rPr lang="fr-FR" sz="3200" dirty="0">
                <a:effectLst/>
                <a:latin typeface="+mj-lt"/>
                <a:ea typeface="Arial" panose="020B0604020202020204" pitchFamily="34" charset="0"/>
              </a:rPr>
              <a:t>, un établissement hospitalier de district situé au Rwanda, </a:t>
            </a:r>
            <a:r>
              <a:rPr lang="fr-FR" sz="3200" dirty="0" err="1">
                <a:effectLst/>
                <a:latin typeface="+mj-lt"/>
                <a:ea typeface="Arial" panose="020B0604020202020204" pitchFamily="34" charset="0"/>
              </a:rPr>
              <a:t>Huye</a:t>
            </a:r>
            <a:r>
              <a:rPr lang="fr-FR" sz="3200" dirty="0">
                <a:effectLst/>
                <a:latin typeface="+mj-lt"/>
                <a:ea typeface="Arial" panose="020B0604020202020204" pitchFamily="34" charset="0"/>
              </a:rPr>
              <a:t> Le commanditaire principal est le </a:t>
            </a:r>
            <a:r>
              <a:rPr lang="fr-FR" sz="3200" b="1" dirty="0">
                <a:effectLst/>
                <a:latin typeface="+mj-lt"/>
                <a:ea typeface="Arial" panose="020B0604020202020204" pitchFamily="34" charset="0"/>
              </a:rPr>
              <a:t>Dr. NZABONIMANA Ephraïm</a:t>
            </a:r>
            <a:r>
              <a:rPr lang="fr-FR" sz="3200" dirty="0">
                <a:effectLst/>
                <a:latin typeface="+mj-lt"/>
                <a:ea typeface="Arial" panose="020B0604020202020204" pitchFamily="34" charset="0"/>
              </a:rPr>
              <a:t>, responsable de la coordination de ce projet ambitieux. Le projet s'inscrit dans le cadre de la transformation numérique des services de santé et de l'ingénierie des systèmes d'information hospitaliers.</a:t>
            </a:r>
          </a:p>
          <a:p>
            <a:pPr algn="just">
              <a:lnSpc>
                <a:spcPct val="115000"/>
              </a:lnSpc>
              <a:spcBef>
                <a:spcPts val="1200"/>
              </a:spcBef>
              <a:spcAft>
                <a:spcPts val="1200"/>
              </a:spcAft>
            </a:pPr>
            <a:r>
              <a:rPr lang="fr-FR" sz="3200" dirty="0">
                <a:latin typeface="+mj-lt"/>
              </a:rPr>
              <a:t>Sans système informatisé approprié au sein de l’hôpital, les pannes d’équipements ne sont pas signalées rapidement au sein de l’hôpital, ce qui impacte la qualité des soins, documenter une intervention de maintenance et les incidents reste difficile et sur papier et la gestion des exigences d’accréditation reste manuelle. </a:t>
            </a:r>
          </a:p>
          <a:p>
            <a:pPr algn="just">
              <a:lnSpc>
                <a:spcPct val="115000"/>
              </a:lnSpc>
              <a:spcBef>
                <a:spcPts val="1200"/>
              </a:spcBef>
              <a:spcAft>
                <a:spcPts val="1200"/>
              </a:spcAft>
            </a:pPr>
            <a:r>
              <a:rPr lang="fr-FR" sz="3200" dirty="0">
                <a:latin typeface="+mj-lt"/>
              </a:rPr>
              <a:t>Tous ces défis entraînent l’absence de consolidation des données pour l’analyse, la prise de décision et un processus administratif long, sujet aux erreurs. </a:t>
            </a:r>
          </a:p>
        </p:txBody>
      </p:sp>
      <p:pic>
        <p:nvPicPr>
          <p:cNvPr id="1031" name="Picture 7" descr="HUYE">
            <a:extLst>
              <a:ext uri="{FF2B5EF4-FFF2-40B4-BE49-F238E27FC236}">
                <a16:creationId xmlns:a16="http://schemas.microsoft.com/office/drawing/2014/main" id="{0D62FF33-175E-B021-5724-0C67D4FA87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94360" y="342900"/>
            <a:ext cx="11876040" cy="7854331"/>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Connecteur droit 59">
            <a:extLst>
              <a:ext uri="{FF2B5EF4-FFF2-40B4-BE49-F238E27FC236}">
                <a16:creationId xmlns:a16="http://schemas.microsoft.com/office/drawing/2014/main" id="{12571AE6-9F16-EA32-5C16-AF6FF3851F11}"/>
              </a:ext>
            </a:extLst>
          </p:cNvPr>
          <p:cNvCxnSpPr/>
          <p:nvPr/>
        </p:nvCxnSpPr>
        <p:spPr>
          <a:xfrm>
            <a:off x="-9372600" y="37909500"/>
            <a:ext cx="91440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63" name="ZoneTexte 62">
            <a:extLst>
              <a:ext uri="{FF2B5EF4-FFF2-40B4-BE49-F238E27FC236}">
                <a16:creationId xmlns:a16="http://schemas.microsoft.com/office/drawing/2014/main" id="{CDDD6144-46E8-A769-7190-D10E3010EEAA}"/>
              </a:ext>
            </a:extLst>
          </p:cNvPr>
          <p:cNvSpPr txBox="1"/>
          <p:nvPr/>
        </p:nvSpPr>
        <p:spPr>
          <a:xfrm>
            <a:off x="21229196" y="9359325"/>
            <a:ext cx="12628680" cy="584775"/>
          </a:xfrm>
          <a:prstGeom prst="rect">
            <a:avLst/>
          </a:prstGeom>
          <a:noFill/>
        </p:spPr>
        <p:txBody>
          <a:bodyPr wrap="square">
            <a:spAutoFit/>
          </a:bodyPr>
          <a:lstStyle/>
          <a:p>
            <a:pPr algn="just"/>
            <a:r>
              <a:rPr lang="fr-FR" sz="3200" b="1" i="1" dirty="0">
                <a:solidFill>
                  <a:schemeClr val="bg1"/>
                </a:solidFill>
              </a:rPr>
              <a:t>Hôpital de District de </a:t>
            </a:r>
            <a:r>
              <a:rPr lang="fr-FR" sz="3200" b="1" i="1" dirty="0" err="1">
                <a:solidFill>
                  <a:schemeClr val="bg1"/>
                </a:solidFill>
              </a:rPr>
              <a:t>Kabutare</a:t>
            </a:r>
            <a:r>
              <a:rPr lang="fr-FR" sz="3200" b="1" i="1" dirty="0">
                <a:solidFill>
                  <a:schemeClr val="bg1"/>
                </a:solidFill>
              </a:rPr>
              <a:t> </a:t>
            </a:r>
            <a:endParaRPr lang="fr-FR" sz="3200" i="1" dirty="0">
              <a:solidFill>
                <a:schemeClr val="bg1"/>
              </a:solidFill>
            </a:endParaRPr>
          </a:p>
        </p:txBody>
      </p:sp>
      <p:sp>
        <p:nvSpPr>
          <p:cNvPr id="1027" name="Rectangle 1026">
            <a:extLst>
              <a:ext uri="{FF2B5EF4-FFF2-40B4-BE49-F238E27FC236}">
                <a16:creationId xmlns:a16="http://schemas.microsoft.com/office/drawing/2014/main" id="{34837FC8-7508-B2AC-4456-07F1BC302E6D}"/>
              </a:ext>
            </a:extLst>
          </p:cNvPr>
          <p:cNvSpPr/>
          <p:nvPr/>
        </p:nvSpPr>
        <p:spPr>
          <a:xfrm>
            <a:off x="764939" y="14818367"/>
            <a:ext cx="16497301" cy="3684789"/>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1029" name="Rectangle 1028">
            <a:extLst>
              <a:ext uri="{FF2B5EF4-FFF2-40B4-BE49-F238E27FC236}">
                <a16:creationId xmlns:a16="http://schemas.microsoft.com/office/drawing/2014/main" id="{2F140596-3AF9-F8EA-2740-D3E5A8DD69D3}"/>
              </a:ext>
            </a:extLst>
          </p:cNvPr>
          <p:cNvSpPr/>
          <p:nvPr/>
        </p:nvSpPr>
        <p:spPr>
          <a:xfrm>
            <a:off x="195780" y="14361169"/>
            <a:ext cx="14601884" cy="1062919"/>
          </a:xfrm>
          <a:prstGeom prst="rect">
            <a:avLst/>
          </a:prstGeom>
          <a:solidFill>
            <a:srgbClr val="7D50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just"/>
            <a:r>
              <a:rPr lang="fr-FR" sz="4800" b="1" dirty="0"/>
              <a:t>ARCHITECTURE DU PROJET</a:t>
            </a:r>
          </a:p>
        </p:txBody>
      </p:sp>
      <p:sp>
        <p:nvSpPr>
          <p:cNvPr id="1047" name="Rectangle 1046">
            <a:extLst>
              <a:ext uri="{FF2B5EF4-FFF2-40B4-BE49-F238E27FC236}">
                <a16:creationId xmlns:a16="http://schemas.microsoft.com/office/drawing/2014/main" id="{0877B6A5-2EE8-78DC-4737-0049B7775A1A}"/>
              </a:ext>
            </a:extLst>
          </p:cNvPr>
          <p:cNvSpPr/>
          <p:nvPr/>
        </p:nvSpPr>
        <p:spPr>
          <a:xfrm>
            <a:off x="17976480" y="10342731"/>
            <a:ext cx="11911800" cy="7816593"/>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dirty="0"/>
          </a:p>
        </p:txBody>
      </p:sp>
      <p:grpSp>
        <p:nvGrpSpPr>
          <p:cNvPr id="1034" name="Group 2">
            <a:extLst>
              <a:ext uri="{FF2B5EF4-FFF2-40B4-BE49-F238E27FC236}">
                <a16:creationId xmlns:a16="http://schemas.microsoft.com/office/drawing/2014/main" id="{203909CE-21A8-FF0F-4FF3-CAE9C085E5B4}"/>
              </a:ext>
            </a:extLst>
          </p:cNvPr>
          <p:cNvGrpSpPr/>
          <p:nvPr/>
        </p:nvGrpSpPr>
        <p:grpSpPr>
          <a:xfrm>
            <a:off x="16716556" y="10561059"/>
            <a:ext cx="12987944" cy="6853903"/>
            <a:chOff x="-22154272" y="-1683775"/>
            <a:chExt cx="16268700" cy="8585200"/>
          </a:xfrm>
        </p:grpSpPr>
        <p:sp>
          <p:nvSpPr>
            <p:cNvPr id="1035" name="Freeform 3">
              <a:extLst>
                <a:ext uri="{FF2B5EF4-FFF2-40B4-BE49-F238E27FC236}">
                  <a16:creationId xmlns:a16="http://schemas.microsoft.com/office/drawing/2014/main" id="{086F1D74-FC66-8FD2-9306-4C6F55642EBB}"/>
                </a:ext>
              </a:extLst>
            </p:cNvPr>
            <p:cNvSpPr/>
            <p:nvPr/>
          </p:nvSpPr>
          <p:spPr>
            <a:xfrm>
              <a:off x="-22154272" y="-1683775"/>
              <a:ext cx="16268700" cy="8585200"/>
            </a:xfrm>
            <a:custGeom>
              <a:avLst/>
              <a:gdLst/>
              <a:ahLst/>
              <a:cxnLst/>
              <a:rect l="l" t="t" r="r" b="b"/>
              <a:pathLst>
                <a:path w="16268700" h="8585200">
                  <a:moveTo>
                    <a:pt x="0" y="0"/>
                  </a:moveTo>
                  <a:lnTo>
                    <a:pt x="16268700" y="0"/>
                  </a:lnTo>
                  <a:lnTo>
                    <a:pt x="16268700" y="8585200"/>
                  </a:lnTo>
                  <a:lnTo>
                    <a:pt x="0" y="8585200"/>
                  </a:lnTo>
                  <a:lnTo>
                    <a:pt x="0" y="0"/>
                  </a:lnTo>
                  <a:close/>
                </a:path>
              </a:pathLst>
            </a:custGeom>
            <a:blipFill>
              <a:blip r:embed="rId5"/>
              <a:stretch>
                <a:fillRect/>
              </a:stretch>
            </a:blipFill>
          </p:spPr>
          <p:txBody>
            <a:bodyPr/>
            <a:lstStyle/>
            <a:p>
              <a:pPr algn="just"/>
              <a:endParaRPr lang="fr-FR" dirty="0"/>
            </a:p>
          </p:txBody>
        </p:sp>
      </p:grpSp>
      <p:sp>
        <p:nvSpPr>
          <p:cNvPr id="1037" name="ZoneTexte 1036">
            <a:extLst>
              <a:ext uri="{FF2B5EF4-FFF2-40B4-BE49-F238E27FC236}">
                <a16:creationId xmlns:a16="http://schemas.microsoft.com/office/drawing/2014/main" id="{11D024E9-2B07-F99F-B485-8CEC4CE4D106}"/>
              </a:ext>
            </a:extLst>
          </p:cNvPr>
          <p:cNvSpPr txBox="1"/>
          <p:nvPr/>
        </p:nvSpPr>
        <p:spPr>
          <a:xfrm>
            <a:off x="885694" y="15718525"/>
            <a:ext cx="16376546" cy="2554545"/>
          </a:xfrm>
          <a:prstGeom prst="rect">
            <a:avLst/>
          </a:prstGeom>
          <a:noFill/>
        </p:spPr>
        <p:txBody>
          <a:bodyPr wrap="square">
            <a:spAutoFit/>
          </a:bodyPr>
          <a:lstStyle/>
          <a:p>
            <a:pPr algn="just"/>
            <a:r>
              <a:rPr lang="fr-FR" sz="3200" dirty="0"/>
              <a:t>L'application adopte une </a:t>
            </a:r>
            <a:r>
              <a:rPr lang="fr-FR" sz="3200" b="1" dirty="0"/>
              <a:t>architecture modulaire en </a:t>
            </a:r>
            <a:r>
              <a:rPr lang="fr-FR" sz="3200" b="1" dirty="0" err="1"/>
              <a:t>microservices</a:t>
            </a:r>
            <a:r>
              <a:rPr lang="fr-FR" sz="3200" dirty="0"/>
              <a:t> sécurisée par un reverse proxy </a:t>
            </a:r>
            <a:r>
              <a:rPr lang="fr-FR" sz="3200" b="1" dirty="0"/>
              <a:t>Nginx</a:t>
            </a:r>
            <a:r>
              <a:rPr lang="fr-FR" sz="3200" dirty="0"/>
              <a:t> (HTTPS). Le backend </a:t>
            </a:r>
            <a:r>
              <a:rPr lang="fr-FR" sz="3200" b="1" dirty="0"/>
              <a:t>Node.js/Express</a:t>
            </a:r>
            <a:r>
              <a:rPr lang="fr-FR" sz="3200" dirty="0"/>
              <a:t> sépare strictement l'authentification (</a:t>
            </a:r>
            <a:r>
              <a:rPr lang="fr-FR" sz="3200" b="1" dirty="0" err="1"/>
              <a:t>Auth</a:t>
            </a:r>
            <a:r>
              <a:rPr lang="fr-FR" sz="3200" dirty="0"/>
              <a:t>) du traitement des données (</a:t>
            </a:r>
            <a:r>
              <a:rPr lang="fr-FR" sz="3200" b="1" dirty="0"/>
              <a:t>DB Service</a:t>
            </a:r>
            <a:r>
              <a:rPr lang="fr-FR" sz="3200" dirty="0"/>
              <a:t>) pour une sécurité accrue. L'interface </a:t>
            </a:r>
            <a:r>
              <a:rPr lang="fr-FR" sz="3200" b="1" dirty="0"/>
              <a:t>Flutter</a:t>
            </a:r>
            <a:r>
              <a:rPr lang="fr-FR" sz="3200" dirty="0"/>
              <a:t> garantit une expérience web responsive, tandis que le stockage repose sur des bases </a:t>
            </a:r>
            <a:r>
              <a:rPr lang="fr-FR" sz="3200" b="1" dirty="0"/>
              <a:t>SQLite</a:t>
            </a:r>
            <a:r>
              <a:rPr lang="fr-FR" sz="3200" dirty="0"/>
              <a:t> légères et isolées. L'automatisation via </a:t>
            </a:r>
            <a:r>
              <a:rPr lang="fr-FR" sz="3200" b="1" dirty="0"/>
              <a:t>Docker</a:t>
            </a:r>
            <a:r>
              <a:rPr lang="fr-FR" sz="3200" dirty="0"/>
              <a:t> et </a:t>
            </a:r>
            <a:r>
              <a:rPr lang="fr-FR" sz="3200" b="1" dirty="0"/>
              <a:t>Jenkins (CI/CD)</a:t>
            </a:r>
            <a:r>
              <a:rPr lang="fr-FR" sz="3200" dirty="0"/>
              <a:t> assure des déploiements stables et reproductibles.</a:t>
            </a:r>
          </a:p>
        </p:txBody>
      </p:sp>
      <p:sp>
        <p:nvSpPr>
          <p:cNvPr id="1040" name="Rectangle 1039">
            <a:extLst>
              <a:ext uri="{FF2B5EF4-FFF2-40B4-BE49-F238E27FC236}">
                <a16:creationId xmlns:a16="http://schemas.microsoft.com/office/drawing/2014/main" id="{FDDDBA6A-2D8B-3578-C9D2-1BFD8A2F8B80}"/>
              </a:ext>
            </a:extLst>
          </p:cNvPr>
          <p:cNvSpPr/>
          <p:nvPr/>
        </p:nvSpPr>
        <p:spPr>
          <a:xfrm>
            <a:off x="810659" y="9508581"/>
            <a:ext cx="16497301" cy="4284644"/>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1041" name="Rectangle 1040">
            <a:extLst>
              <a:ext uri="{FF2B5EF4-FFF2-40B4-BE49-F238E27FC236}">
                <a16:creationId xmlns:a16="http://schemas.microsoft.com/office/drawing/2014/main" id="{5A395B77-19A7-6854-169E-0DEC49DBBC6C}"/>
              </a:ext>
            </a:extLst>
          </p:cNvPr>
          <p:cNvSpPr/>
          <p:nvPr/>
        </p:nvSpPr>
        <p:spPr>
          <a:xfrm>
            <a:off x="165300" y="8977122"/>
            <a:ext cx="13944600" cy="1062919"/>
          </a:xfrm>
          <a:prstGeom prst="rect">
            <a:avLst/>
          </a:prstGeom>
          <a:solidFill>
            <a:srgbClr val="F168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just"/>
            <a:r>
              <a:rPr lang="fr-FR" sz="4800" b="1" dirty="0"/>
              <a:t>SOLUTION : LOGICIEL GMAO</a:t>
            </a:r>
          </a:p>
        </p:txBody>
      </p:sp>
      <p:sp>
        <p:nvSpPr>
          <p:cNvPr id="1039" name="Rectangle 10">
            <a:extLst>
              <a:ext uri="{FF2B5EF4-FFF2-40B4-BE49-F238E27FC236}">
                <a16:creationId xmlns:a16="http://schemas.microsoft.com/office/drawing/2014/main" id="{BFFD1F7F-DE06-FE0E-0382-A8A07E6A6983}"/>
              </a:ext>
            </a:extLst>
          </p:cNvPr>
          <p:cNvSpPr>
            <a:spLocks noChangeArrowheads="1"/>
          </p:cNvSpPr>
          <p:nvPr/>
        </p:nvSpPr>
        <p:spPr bwMode="auto">
          <a:xfrm>
            <a:off x="1083354" y="10196322"/>
            <a:ext cx="15320709" cy="39857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lgn="just" eaLnBrk="0" fontAlgn="base" hangingPunct="0">
              <a:spcBef>
                <a:spcPct val="0"/>
              </a:spcBef>
              <a:spcAft>
                <a:spcPct val="0"/>
              </a:spcAft>
            </a:pPr>
            <a:r>
              <a:rPr kumimoji="0" lang="fr-FR" altLang="fr-FR" sz="3200" b="0" i="0" u="none" strike="noStrike" cap="none" normalizeH="0" baseline="0" dirty="0">
                <a:ln>
                  <a:noFill/>
                </a:ln>
                <a:solidFill>
                  <a:schemeClr val="tx1"/>
                </a:solidFill>
                <a:effectLst/>
                <a:latin typeface="+mj-lt"/>
              </a:rPr>
              <a:t>Le </a:t>
            </a:r>
            <a:r>
              <a:rPr kumimoji="0" lang="fr-FR" altLang="fr-FR" sz="3200" b="1" i="0" u="none" strike="noStrike" cap="none" normalizeH="0" baseline="0" dirty="0">
                <a:ln>
                  <a:noFill/>
                </a:ln>
                <a:solidFill>
                  <a:schemeClr val="tx1"/>
                </a:solidFill>
                <a:effectLst/>
                <a:latin typeface="+mj-lt"/>
              </a:rPr>
              <a:t>Module 1 (GMAO)</a:t>
            </a:r>
            <a:r>
              <a:rPr kumimoji="0" lang="fr-FR" altLang="fr-FR" sz="3200" b="0" i="0" u="none" strike="noStrike" cap="none" normalizeH="0" baseline="0" dirty="0">
                <a:ln>
                  <a:noFill/>
                </a:ln>
                <a:solidFill>
                  <a:schemeClr val="tx1"/>
                </a:solidFill>
                <a:effectLst/>
                <a:latin typeface="+mj-lt"/>
              </a:rPr>
              <a:t> centralise la gestion des équipements des </a:t>
            </a:r>
            <a:r>
              <a:rPr kumimoji="0" lang="fr-FR" altLang="fr-FR" sz="3200" b="1" i="0" u="none" strike="noStrike" cap="none" normalizeH="0" baseline="0" dirty="0">
                <a:ln>
                  <a:noFill/>
                </a:ln>
                <a:solidFill>
                  <a:schemeClr val="tx1"/>
                </a:solidFill>
                <a:effectLst/>
                <a:latin typeface="+mj-lt"/>
              </a:rPr>
              <a:t>18 services</a:t>
            </a:r>
            <a:r>
              <a:rPr kumimoji="0" lang="fr-FR" altLang="fr-FR" sz="3200" b="0" i="0" u="none" strike="noStrike" cap="none" normalizeH="0" baseline="0" dirty="0">
                <a:ln>
                  <a:noFill/>
                </a:ln>
                <a:solidFill>
                  <a:schemeClr val="tx1"/>
                </a:solidFill>
                <a:effectLst/>
                <a:latin typeface="+mj-lt"/>
              </a:rPr>
              <a:t> de l’hôpital et </a:t>
            </a:r>
            <a:r>
              <a:rPr lang="fr-FR" sz="3200" dirty="0"/>
              <a:t>permet de suivre, piloter et signaler en temps réel les incidents relatifs à l'ensemble du parc de l'établissement (biomédical, informatique et infrastructures) au sein des </a:t>
            </a:r>
            <a:r>
              <a:rPr lang="fr-FR" sz="3200" b="1" dirty="0"/>
              <a:t>18 départements hospitaliers</a:t>
            </a:r>
            <a:r>
              <a:rPr lang="fr-FR" sz="3200" dirty="0"/>
              <a:t>. </a:t>
            </a:r>
            <a:r>
              <a:rPr kumimoji="0" lang="fr-FR" altLang="fr-FR" sz="3200" b="0" i="0" u="none" strike="noStrike" cap="none" normalizeH="0" baseline="0" dirty="0">
                <a:ln>
                  <a:noFill/>
                </a:ln>
                <a:solidFill>
                  <a:schemeClr val="tx1"/>
                </a:solidFill>
                <a:effectLst/>
                <a:latin typeface="+mj-lt"/>
              </a:rPr>
              <a:t> Grâce au signalement par </a:t>
            </a:r>
            <a:r>
              <a:rPr kumimoji="0" lang="fr-FR" altLang="fr-FR" sz="3200" b="1" i="0" u="none" strike="noStrike" cap="none" normalizeH="0" baseline="0" dirty="0">
                <a:ln>
                  <a:noFill/>
                </a:ln>
                <a:solidFill>
                  <a:schemeClr val="tx1"/>
                </a:solidFill>
                <a:effectLst/>
                <a:latin typeface="+mj-lt"/>
              </a:rPr>
              <a:t>speech-to-</a:t>
            </a:r>
            <a:r>
              <a:rPr kumimoji="0" lang="fr-FR" altLang="fr-FR" sz="3200" b="1" i="0" u="none" strike="noStrike" cap="none" normalizeH="0" baseline="0" dirty="0" err="1">
                <a:ln>
                  <a:noFill/>
                </a:ln>
                <a:solidFill>
                  <a:schemeClr val="tx1"/>
                </a:solidFill>
                <a:effectLst/>
                <a:latin typeface="+mj-lt"/>
              </a:rPr>
              <a:t>text</a:t>
            </a:r>
            <a:r>
              <a:rPr kumimoji="0" lang="fr-FR" altLang="fr-FR" sz="3200" b="0" i="0" u="none" strike="noStrike" cap="none" normalizeH="0" baseline="0" dirty="0">
                <a:ln>
                  <a:noFill/>
                </a:ln>
                <a:solidFill>
                  <a:schemeClr val="tx1"/>
                </a:solidFill>
                <a:effectLst/>
                <a:latin typeface="+mj-lt"/>
              </a:rPr>
              <a:t> et au suivi en temps réel, il remplace les processus papier par une </a:t>
            </a:r>
            <a:r>
              <a:rPr kumimoji="0" lang="fr-FR" altLang="fr-FR" sz="3200" b="1" i="0" u="none" strike="noStrike" cap="none" normalizeH="0" baseline="0" dirty="0">
                <a:ln>
                  <a:noFill/>
                </a:ln>
                <a:solidFill>
                  <a:schemeClr val="tx1"/>
                </a:solidFill>
                <a:effectLst/>
                <a:latin typeface="+mj-lt"/>
              </a:rPr>
              <a:t>maintenance maîtrisée</a:t>
            </a:r>
            <a:r>
              <a:rPr kumimoji="0" lang="fr-FR" altLang="fr-FR" sz="3200" b="0" i="0" u="none" strike="noStrike" cap="none" normalizeH="0" baseline="0" dirty="0">
                <a:ln>
                  <a:noFill/>
                </a:ln>
                <a:solidFill>
                  <a:schemeClr val="tx1"/>
                </a:solidFill>
                <a:effectLst/>
                <a:latin typeface="+mj-lt"/>
              </a:rPr>
              <a:t>. Cette transition sécurise l’acte médical et optimise la longévité du matériel via des </a:t>
            </a:r>
            <a:r>
              <a:rPr kumimoji="0" lang="fr-FR" altLang="fr-FR" sz="3200" b="1" i="0" u="none" strike="noStrike" cap="none" normalizeH="0" baseline="0" dirty="0">
                <a:ln>
                  <a:noFill/>
                </a:ln>
                <a:solidFill>
                  <a:schemeClr val="tx1"/>
                </a:solidFill>
                <a:effectLst/>
                <a:latin typeface="+mj-lt"/>
              </a:rPr>
              <a:t>tableaux de bord</a:t>
            </a:r>
            <a:r>
              <a:rPr kumimoji="0" lang="fr-FR" altLang="fr-FR" sz="3200" b="0" i="0" u="none" strike="noStrike" cap="none" normalizeH="0" baseline="0" dirty="0">
                <a:ln>
                  <a:noFill/>
                </a:ln>
                <a:solidFill>
                  <a:schemeClr val="tx1"/>
                </a:solidFill>
                <a:effectLst/>
                <a:latin typeface="+mj-lt"/>
              </a:rPr>
              <a:t> décisionnels.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altLang="fr-FR" sz="3200" b="0" i="0" u="none" strike="noStrike" cap="none" normalizeH="0" baseline="0" dirty="0">
              <a:ln>
                <a:noFill/>
              </a:ln>
              <a:solidFill>
                <a:schemeClr val="tx1"/>
              </a:solidFill>
              <a:effectLst/>
              <a:latin typeface="+mj-lt"/>
            </a:endParaRPr>
          </a:p>
        </p:txBody>
      </p:sp>
      <p:sp>
        <p:nvSpPr>
          <p:cNvPr id="1045" name="Triangle isocèle 1044">
            <a:extLst>
              <a:ext uri="{FF2B5EF4-FFF2-40B4-BE49-F238E27FC236}">
                <a16:creationId xmlns:a16="http://schemas.microsoft.com/office/drawing/2014/main" id="{4512A0EA-9204-468C-8EC8-CB6B14185C30}"/>
              </a:ext>
            </a:extLst>
          </p:cNvPr>
          <p:cNvSpPr/>
          <p:nvPr/>
        </p:nvSpPr>
        <p:spPr>
          <a:xfrm rot="16875973">
            <a:off x="23933750" y="5389251"/>
            <a:ext cx="1315004" cy="2696589"/>
          </a:xfrm>
          <a:prstGeom prst="triangle">
            <a:avLst/>
          </a:prstGeom>
          <a:solidFill>
            <a:schemeClr val="bg2">
              <a:lumMod val="90000"/>
            </a:schemeClr>
          </a:solid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1042" name="Ellipse 1041">
            <a:extLst>
              <a:ext uri="{FF2B5EF4-FFF2-40B4-BE49-F238E27FC236}">
                <a16:creationId xmlns:a16="http://schemas.microsoft.com/office/drawing/2014/main" id="{435630A2-EEA5-6A5F-6333-FBF045B7348B}"/>
              </a:ext>
            </a:extLst>
          </p:cNvPr>
          <p:cNvSpPr/>
          <p:nvPr/>
        </p:nvSpPr>
        <p:spPr>
          <a:xfrm>
            <a:off x="25382573" y="5072789"/>
            <a:ext cx="4321927" cy="4234561"/>
          </a:xfrm>
          <a:prstGeom prst="ellipse">
            <a:avLst/>
          </a:prstGeom>
          <a:blipFill>
            <a:blip r:embed="rId6"/>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sp>
        <p:nvSpPr>
          <p:cNvPr id="1048" name="ZoneTexte 1047">
            <a:extLst>
              <a:ext uri="{FF2B5EF4-FFF2-40B4-BE49-F238E27FC236}">
                <a16:creationId xmlns:a16="http://schemas.microsoft.com/office/drawing/2014/main" id="{733648A5-A56C-A916-A7C3-A22C5C037D3B}"/>
              </a:ext>
            </a:extLst>
          </p:cNvPr>
          <p:cNvSpPr txBox="1"/>
          <p:nvPr/>
        </p:nvSpPr>
        <p:spPr>
          <a:xfrm>
            <a:off x="17552369" y="18427125"/>
            <a:ext cx="12628680" cy="584775"/>
          </a:xfrm>
          <a:prstGeom prst="rect">
            <a:avLst/>
          </a:prstGeom>
          <a:noFill/>
        </p:spPr>
        <p:txBody>
          <a:bodyPr wrap="square">
            <a:spAutoFit/>
          </a:bodyPr>
          <a:lstStyle/>
          <a:p>
            <a:pPr algn="ctr"/>
            <a:r>
              <a:rPr lang="fr-FR" sz="3200" b="1" i="1" dirty="0">
                <a:solidFill>
                  <a:schemeClr val="bg1"/>
                </a:solidFill>
              </a:rPr>
              <a:t>Architecture fonctionnelle</a:t>
            </a:r>
            <a:endParaRPr lang="fr-FR" sz="3200" i="1" dirty="0">
              <a:solidFill>
                <a:schemeClr val="bg1"/>
              </a:solidFill>
            </a:endParaRPr>
          </a:p>
        </p:txBody>
      </p:sp>
      <p:sp>
        <p:nvSpPr>
          <p:cNvPr id="12" name="Rectangle 11">
            <a:extLst>
              <a:ext uri="{FF2B5EF4-FFF2-40B4-BE49-F238E27FC236}">
                <a16:creationId xmlns:a16="http://schemas.microsoft.com/office/drawing/2014/main" id="{BC7DDBE4-B4D4-D18A-9B40-3BB96175F45B}"/>
              </a:ext>
            </a:extLst>
          </p:cNvPr>
          <p:cNvSpPr/>
          <p:nvPr/>
        </p:nvSpPr>
        <p:spPr>
          <a:xfrm>
            <a:off x="636706" y="19702879"/>
            <a:ext cx="29309894" cy="15751296"/>
          </a:xfrm>
          <a:prstGeom prst="rect">
            <a:avLst/>
          </a:prstGeom>
          <a:solidFill>
            <a:schemeClr val="bg1">
              <a:alpha val="7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fr-FR"/>
          </a:p>
        </p:txBody>
      </p:sp>
      <p:pic>
        <p:nvPicPr>
          <p:cNvPr id="6" name="image1.png">
            <a:extLst>
              <a:ext uri="{FF2B5EF4-FFF2-40B4-BE49-F238E27FC236}">
                <a16:creationId xmlns:a16="http://schemas.microsoft.com/office/drawing/2014/main" id="{94023EBD-BE85-9532-0C01-7CC33F7D1156}"/>
              </a:ext>
            </a:extLst>
          </p:cNvPr>
          <p:cNvPicPr/>
          <p:nvPr/>
        </p:nvPicPr>
        <p:blipFill>
          <a:blip r:embed="rId7"/>
          <a:stretch>
            <a:fillRect/>
          </a:stretch>
        </p:blipFill>
        <p:spPr>
          <a:xfrm>
            <a:off x="1066800" y="20729127"/>
            <a:ext cx="10737908" cy="6858000"/>
          </a:xfrm>
          <a:prstGeom prst="rect">
            <a:avLst/>
          </a:prstGeom>
          <a:ln/>
        </p:spPr>
      </p:pic>
      <p:pic>
        <p:nvPicPr>
          <p:cNvPr id="7" name="image9.png">
            <a:extLst>
              <a:ext uri="{FF2B5EF4-FFF2-40B4-BE49-F238E27FC236}">
                <a16:creationId xmlns:a16="http://schemas.microsoft.com/office/drawing/2014/main" id="{A6323D5D-169A-E083-960B-641A8835A1CD}"/>
              </a:ext>
            </a:extLst>
          </p:cNvPr>
          <p:cNvPicPr/>
          <p:nvPr/>
        </p:nvPicPr>
        <p:blipFill>
          <a:blip r:embed="rId8"/>
          <a:stretch>
            <a:fillRect/>
          </a:stretch>
        </p:blipFill>
        <p:spPr>
          <a:xfrm>
            <a:off x="12125280" y="20713719"/>
            <a:ext cx="10737908" cy="6868486"/>
          </a:xfrm>
          <a:prstGeom prst="rect">
            <a:avLst/>
          </a:prstGeom>
          <a:ln/>
        </p:spPr>
      </p:pic>
      <p:pic>
        <p:nvPicPr>
          <p:cNvPr id="9" name="image19.png">
            <a:extLst>
              <a:ext uri="{FF2B5EF4-FFF2-40B4-BE49-F238E27FC236}">
                <a16:creationId xmlns:a16="http://schemas.microsoft.com/office/drawing/2014/main" id="{1E0D1FE2-9483-5704-D990-87EFF133ECA7}"/>
              </a:ext>
            </a:extLst>
          </p:cNvPr>
          <p:cNvPicPr/>
          <p:nvPr/>
        </p:nvPicPr>
        <p:blipFill>
          <a:blip r:embed="rId9"/>
          <a:srcRect r="1770"/>
          <a:stretch>
            <a:fillRect/>
          </a:stretch>
        </p:blipFill>
        <p:spPr>
          <a:xfrm>
            <a:off x="12115800" y="27851100"/>
            <a:ext cx="10730154" cy="6901864"/>
          </a:xfrm>
          <a:prstGeom prst="rect">
            <a:avLst/>
          </a:prstGeom>
          <a:ln/>
        </p:spPr>
      </p:pic>
      <p:pic>
        <p:nvPicPr>
          <p:cNvPr id="16" name="image41.png">
            <a:extLst>
              <a:ext uri="{FF2B5EF4-FFF2-40B4-BE49-F238E27FC236}">
                <a16:creationId xmlns:a16="http://schemas.microsoft.com/office/drawing/2014/main" id="{5FE5B7BF-5046-F6F1-930D-D3D5A68ED416}"/>
              </a:ext>
            </a:extLst>
          </p:cNvPr>
          <p:cNvPicPr/>
          <p:nvPr/>
        </p:nvPicPr>
        <p:blipFill>
          <a:blip r:embed="rId10"/>
          <a:stretch>
            <a:fillRect/>
          </a:stretch>
        </p:blipFill>
        <p:spPr>
          <a:xfrm>
            <a:off x="1066800" y="27851101"/>
            <a:ext cx="10746124" cy="6858000"/>
          </a:xfrm>
          <a:prstGeom prst="rect">
            <a:avLst/>
          </a:prstGeom>
          <a:ln/>
        </p:spPr>
      </p:pic>
      <p:sp>
        <p:nvSpPr>
          <p:cNvPr id="18" name="Freeform 2">
            <a:extLst>
              <a:ext uri="{FF2B5EF4-FFF2-40B4-BE49-F238E27FC236}">
                <a16:creationId xmlns:a16="http://schemas.microsoft.com/office/drawing/2014/main" id="{880FCEAA-19CA-8FAB-6FE9-EC9EC7FFF691}"/>
              </a:ext>
            </a:extLst>
          </p:cNvPr>
          <p:cNvSpPr/>
          <p:nvPr/>
        </p:nvSpPr>
        <p:spPr>
          <a:xfrm>
            <a:off x="22863188" y="20503175"/>
            <a:ext cx="7482511" cy="14510726"/>
          </a:xfrm>
          <a:custGeom>
            <a:avLst/>
            <a:gdLst/>
            <a:ahLst/>
            <a:cxnLst/>
            <a:rect l="l" t="t" r="r" b="b"/>
            <a:pathLst>
              <a:path w="13335000" h="25860375">
                <a:moveTo>
                  <a:pt x="0" y="0"/>
                </a:moveTo>
                <a:lnTo>
                  <a:pt x="13335000" y="0"/>
                </a:lnTo>
                <a:lnTo>
                  <a:pt x="13335000" y="25860375"/>
                </a:lnTo>
                <a:lnTo>
                  <a:pt x="0" y="25860375"/>
                </a:lnTo>
                <a:lnTo>
                  <a:pt x="0" y="0"/>
                </a:lnTo>
                <a:close/>
              </a:path>
            </a:pathLst>
          </a:custGeom>
          <a:blipFill>
            <a:blip r:embed="rId11"/>
            <a:stretch>
              <a:fillRect/>
            </a:stretch>
          </a:blipFill>
        </p:spPr>
        <p:txBody>
          <a:bodyPr/>
          <a:lstStyle/>
          <a:p>
            <a:pPr algn="just"/>
            <a:endParaRPr lang="fr-FR"/>
          </a:p>
        </p:txBody>
      </p:sp>
      <p:sp>
        <p:nvSpPr>
          <p:cNvPr id="19" name="Rectangle 18">
            <a:extLst>
              <a:ext uri="{FF2B5EF4-FFF2-40B4-BE49-F238E27FC236}">
                <a16:creationId xmlns:a16="http://schemas.microsoft.com/office/drawing/2014/main" id="{157D6E0C-364B-A1E3-0755-EF61C3C17FEF}"/>
              </a:ext>
            </a:extLst>
          </p:cNvPr>
          <p:cNvSpPr/>
          <p:nvPr/>
        </p:nvSpPr>
        <p:spPr>
          <a:xfrm>
            <a:off x="195780" y="19224337"/>
            <a:ext cx="14601884" cy="1062919"/>
          </a:xfrm>
          <a:prstGeom prst="rect">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just"/>
            <a:r>
              <a:rPr lang="fr-FR" sz="4800" b="1" dirty="0"/>
              <a:t>APPLICATION DE GESTION DES EQUIPEMENTS</a:t>
            </a:r>
          </a:p>
        </p:txBody>
      </p:sp>
      <p:sp>
        <p:nvSpPr>
          <p:cNvPr id="20" name="ZoneTexte 19">
            <a:extLst>
              <a:ext uri="{FF2B5EF4-FFF2-40B4-BE49-F238E27FC236}">
                <a16:creationId xmlns:a16="http://schemas.microsoft.com/office/drawing/2014/main" id="{2751D021-5BEE-B97E-2762-FDEB898095FA}"/>
              </a:ext>
            </a:extLst>
          </p:cNvPr>
          <p:cNvSpPr txBox="1"/>
          <p:nvPr/>
        </p:nvSpPr>
        <p:spPr>
          <a:xfrm>
            <a:off x="5222264" y="35547300"/>
            <a:ext cx="19150800" cy="1446550"/>
          </a:xfrm>
          <a:prstGeom prst="rect">
            <a:avLst/>
          </a:prstGeom>
          <a:noFill/>
        </p:spPr>
        <p:txBody>
          <a:bodyPr wrap="square">
            <a:spAutoFit/>
          </a:bodyPr>
          <a:lstStyle/>
          <a:p>
            <a:pPr algn="ctr">
              <a:buNone/>
            </a:pPr>
            <a:r>
              <a:rPr lang="fr-FR" sz="4400" dirty="0"/>
              <a:t>Tuteur : M. Bastide | Client : Dr. NZABONIMANA Ephraïm</a:t>
            </a:r>
          </a:p>
          <a:p>
            <a:pPr algn="ctr">
              <a:buNone/>
            </a:pPr>
            <a:r>
              <a:rPr lang="fr-FR" sz="4400" dirty="0"/>
              <a:t>Lucas LOPVET, Julie ROUANET, </a:t>
            </a:r>
            <a:r>
              <a:rPr lang="fr-FR" sz="4400" dirty="0" err="1"/>
              <a:t>Wiame</a:t>
            </a:r>
            <a:r>
              <a:rPr lang="fr-FR" sz="4400" dirty="0"/>
              <a:t> BOURJILA, Valentin BONNIFAIT</a:t>
            </a:r>
          </a:p>
        </p:txBody>
      </p:sp>
    </p:spTree>
    <p:extLst>
      <p:ext uri="{BB962C8B-B14F-4D97-AF65-F5344CB8AC3E}">
        <p14:creationId xmlns:p14="http://schemas.microsoft.com/office/powerpoint/2010/main" val="3319880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1683</TotalTime>
  <Words>377</Words>
  <Application>Microsoft Office PowerPoint</Application>
  <PresentationFormat>Personnalisé</PresentationFormat>
  <Paragraphs>17</Paragraphs>
  <Slides>1</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vt:i4>
      </vt:variant>
    </vt:vector>
  </HeadingPairs>
  <TitlesOfParts>
    <vt:vector size="4" baseType="lpstr">
      <vt:lpstr>Arial</vt:lpstr>
      <vt:lpstr>Calibri</vt:lpstr>
      <vt:lpstr>Office Theme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soutenance_isis.pptx</dc:title>
  <cp:lastModifiedBy>Valentin Bonnifait</cp:lastModifiedBy>
  <cp:revision>6</cp:revision>
  <dcterms:created xsi:type="dcterms:W3CDTF">2006-08-16T00:00:00Z</dcterms:created>
  <dcterms:modified xsi:type="dcterms:W3CDTF">2026-04-17T17:12:57Z</dcterms:modified>
  <dc:identifier>DAHGqAwCrjA</dc:identifier>
</cp:coreProperties>
</file>